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as production-style microservices stack with SRE dashboard. One command docker compose up brings full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pain: alert fatigue, unclear if metrics are real, hard to demo SRE in interviews.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docker compose up --build -d starts 10+ containers on ecommerce-net bridge.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api-gateway depends on all microservices. Vite dev server proxies /api to :8080.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Env vars: DATABASE_URL, REDIS_URL, PRODUCT_SERVICE_URL per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Frontend polls every 3s. httpx async client for service probes.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React 18, TypeScript, Vite, Tailwind, Framer Motion, Lucide icons.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Proves real HTTP probes to ports 5001-5003 — not fake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chaos first to populate active incidents for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 /simulate/* and POST /load-test; results at GET /load-test/results.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Grafana datasource pre-provisioned to Prometheus in observability/grafana/.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Local dev: backend :8080, frontend :5173, Vite proxy /api → 8080.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Swagger at :8080/docs. Grafana admin/admin. Optional live 2-min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SRE E-Commerce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63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94A3B8"/>
                </a:solidFill>
              </a:defRPr>
            </a:pPr>
            <a:r>
              <a:t>Real-time observability for a microservices e-commerce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77639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B82F6"/>
                </a:solidFill>
              </a:defRPr>
            </a:pPr>
            <a:r>
              <a:t>Simulate, observe, break, and heal — like production SRE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2C55E"/>
                </a:solidFill>
              </a:defRPr>
            </a:pPr>
            <a:r>
              <a:t>React  •  FastAPI  •  Docker  •  Prometheus  •  Grafana  •  Jaeger</a:t>
            </a:r>
          </a:p>
        </p:txBody>
      </p:sp>
      <p:sp>
        <p:nvSpPr>
          <p:cNvPr id="7" name="Oval 6"/>
          <p:cNvSpPr/>
          <p:nvPr/>
        </p:nvSpPr>
        <p:spPr>
          <a:xfrm>
            <a:off x="8686800" y="2286000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0" y="347472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0" y="4572000"/>
            <a:ext cx="457200" cy="4572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SRE Cloud Project | Portfolio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Why This Project?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20116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Microservices fail in subtle ways — one slow DB affects the entire user journey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SRE teams need one pane of glass: health, metrics, incidents, and experiments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Learn chaos engineering and load testing safely before production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Bridges the gap between toy apps and real production observability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Demonstrates live data provenance — not just mocked charts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828800"/>
            <a:ext cx="2286000" cy="2011680"/>
          </a:xfrm>
          <a:prstGeom prst="roundRect">
            <a:avLst/>
          </a:prstGeom>
          <a:solidFill>
            <a:srgbClr val="3C141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EF4444"/>
                </a:solidFill>
              </a:defRPr>
            </a:pPr>
            <a:r>
              <a:t>Before</a:t>
            </a:r>
            <a:br/>
            <a:r>
              <a:t>Fragmented</a:t>
            </a:r>
            <a:br/>
            <a:r>
              <a:t>alerts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1828800"/>
            <a:ext cx="2286000" cy="2011680"/>
          </a:xfrm>
          <a:prstGeom prst="roundRect">
            <a:avLst/>
          </a:prstGeom>
          <a:solidFill>
            <a:srgbClr val="14321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22C55E"/>
                </a:solidFill>
              </a:defRPr>
            </a:pPr>
            <a:r>
              <a:t>After</a:t>
            </a:r>
            <a:br/>
            <a:r>
              <a:t>Unified SRE</a:t>
            </a:r>
            <a:br/>
            <a:r>
              <a:t>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SRE E-Commerce Dashboard | SRE Cloud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We Built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20116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3-tier microservices e-commerce: product, cart, order services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API Gateway with live HTTP probes + chaos overlays + incident simulation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React dashboard: Overview, Microservices, Incidents, Chaos &amp; Load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Full observability via Docker: Prometheus, Grafana, Alertmanager, Jaeger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PostgreSQL 16 + Redis 7 for realistic data-layer dependencies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828800"/>
            <a:ext cx="1280160" cy="502920"/>
          </a:xfrm>
          <a:prstGeom prst="roundRect">
            <a:avLst/>
          </a:prstGeom>
          <a:solidFill>
            <a:srgbClr val="1E1E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2E8F0"/>
                </a:solidFill>
              </a:defRPr>
            </a:pPr>
            <a:r>
              <a:t>User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2743200"/>
            <a:ext cx="1645920" cy="502920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2E8F0"/>
                </a:solidFill>
              </a:defRPr>
            </a:pPr>
            <a:r>
              <a:t>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657600"/>
            <a:ext cx="2011680" cy="50292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2E8F0"/>
                </a:solidFill>
              </a:defRPr>
            </a:pPr>
            <a:r>
              <a:t>API Gateway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4572000"/>
            <a:ext cx="2011680" cy="502920"/>
          </a:xfrm>
          <a:prstGeom prst="roundRect">
            <a:avLst/>
          </a:prstGeom>
          <a:solidFill>
            <a:srgbClr val="1E1E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2E8F0"/>
                </a:solidFill>
              </a:defRPr>
            </a:pPr>
            <a:r>
              <a:t>Services x3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5486400"/>
            <a:ext cx="2011680" cy="502920"/>
          </a:xfrm>
          <a:prstGeom prst="roundRect">
            <a:avLst/>
          </a:prstGeom>
          <a:solidFill>
            <a:srgbClr val="1E1E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2E8F0"/>
                </a:solidFill>
              </a:defRPr>
            </a:pPr>
            <a:r>
              <a:t>DB + Redis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SRE E-Commerce Dashboard | SRE Cloud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High-Level Architecture</a:t>
            </a:r>
          </a:p>
          <a:p>
            <a:pPr>
              <a:spcBef>
                <a:spcPts val="400"/>
              </a:spcBef>
              <a:defRPr sz="1600">
                <a:solidFill>
                  <a:srgbClr val="94A3B8"/>
                </a:solidFill>
              </a:defRPr>
            </a:pPr>
            <a:r>
              <a:t>Docker Compose — ecommerce-net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20116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828800" cy="457200"/>
          </a:xfrm>
          <a:prstGeom prst="roundRect">
            <a:avLst/>
          </a:prstGeom>
          <a:solidFill>
            <a:srgbClr val="1E1E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2E8F0"/>
                </a:solidFill>
              </a:defRPr>
            </a:pPr>
            <a:r>
              <a:t>Browser :5173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94560"/>
            <a:ext cx="2011680" cy="457200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2E8F0"/>
                </a:solidFill>
              </a:defRPr>
            </a:pPr>
            <a:r>
              <a:t>React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017520"/>
            <a:ext cx="2194560" cy="50292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2E8F0"/>
                </a:solidFill>
              </a:defRPr>
            </a:pPr>
            <a:r>
              <a:t>API Gateway :8080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3840480"/>
            <a:ext cx="1645920" cy="457200"/>
          </a:xfrm>
          <a:prstGeom prst="roundRect">
            <a:avLst/>
          </a:prstGeom>
          <a:solidFill>
            <a:srgbClr val="1E1E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2E8F0"/>
                </a:solidFill>
              </a:defRPr>
            </a:pPr>
            <a:r>
              <a:t>product :5001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3840480"/>
            <a:ext cx="1463040" cy="457200"/>
          </a:xfrm>
          <a:prstGeom prst="roundRect">
            <a:avLst/>
          </a:prstGeom>
          <a:solidFill>
            <a:srgbClr val="1E1E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2E8F0"/>
                </a:solidFill>
              </a:defRPr>
            </a:pPr>
            <a:r>
              <a:t>cart :5002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3840480"/>
            <a:ext cx="1463040" cy="457200"/>
          </a:xfrm>
          <a:prstGeom prst="roundRect">
            <a:avLst/>
          </a:prstGeom>
          <a:solidFill>
            <a:srgbClr val="1E1E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2E8F0"/>
                </a:solidFill>
              </a:defRPr>
            </a:pPr>
            <a:r>
              <a:t>order :5003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4846320"/>
            <a:ext cx="1828800" cy="457200"/>
          </a:xfrm>
          <a:prstGeom prst="roundRect">
            <a:avLst/>
          </a:prstGeom>
          <a:solidFill>
            <a:srgbClr val="1E1E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2E8F0"/>
                </a:solidFill>
              </a:defRPr>
            </a:pPr>
            <a:r>
              <a:t>PostgreSQL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4846320"/>
            <a:ext cx="1371600" cy="457200"/>
          </a:xfrm>
          <a:prstGeom prst="roundRect">
            <a:avLst/>
          </a:prstGeom>
          <a:solidFill>
            <a:srgbClr val="1E1E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2E8F0"/>
                </a:solidFill>
              </a:defRPr>
            </a:pPr>
            <a:r>
              <a:t>Redis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828800"/>
            <a:ext cx="2011680" cy="457200"/>
          </a:xfrm>
          <a:prstGeom prst="roundRect">
            <a:avLst/>
          </a:prstGeom>
          <a:solidFill>
            <a:srgbClr val="1E1E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2E8F0"/>
                </a:solidFill>
              </a:defRPr>
            </a:pPr>
            <a:r>
              <a:t>Prometheus :9090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560320"/>
            <a:ext cx="2011680" cy="457200"/>
          </a:xfrm>
          <a:prstGeom prst="roundRect">
            <a:avLst/>
          </a:prstGeom>
          <a:solidFill>
            <a:srgbClr val="1E1E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2E8F0"/>
                </a:solidFill>
              </a:defRPr>
            </a:pPr>
            <a:r>
              <a:t>Grafana :3000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3291840"/>
            <a:ext cx="2011680" cy="457200"/>
          </a:xfrm>
          <a:prstGeom prst="roundRect">
            <a:avLst/>
          </a:prstGeom>
          <a:solidFill>
            <a:srgbClr val="1E1E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2E8F0"/>
                </a:solidFill>
              </a:defRPr>
            </a:pPr>
            <a:r>
              <a:t>Alertmanager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4023360"/>
            <a:ext cx="2011680" cy="457200"/>
          </a:xfrm>
          <a:prstGeom prst="roundRect">
            <a:avLst/>
          </a:prstGeom>
          <a:solidFill>
            <a:srgbClr val="1E1E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2E8F0"/>
                </a:solidFill>
              </a:defRPr>
            </a:pPr>
            <a:r>
              <a:t>Jaeger :16686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486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10+ containers with healthchecks on Postgres &amp; Redis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Cart service calls product-service; all probed by gateway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Prometheus scrapes /metrics on all services every 15s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SRE E-Commerce Dashboard | SRE Cloud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E-Commerce Microservices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20116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2588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Port</a:t>
                      </a:r>
                    </a:p>
                  </a:txBody>
                  <a:tcPr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Responsibility</a:t>
                      </a:r>
                    </a:p>
                  </a:txBody>
                  <a:tcPr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Dependencies</a:t>
                      </a:r>
                    </a:p>
                  </a:txBody>
                  <a:tcPr>
                    <a:solidFill>
                      <a:srgbClr val="8B5C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product-service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5001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Catalog SKUs, /health, /metrics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PostgreSQL, Redis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cart-service</a:t>
                      </a:r>
                    </a:p>
                  </a:txBody>
                  <a:tcPr>
                    <a:solidFill>
                      <a:srgbClr val="1E1E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5002</a:t>
                      </a:r>
                    </a:p>
                  </a:txBody>
                  <a:tcPr>
                    <a:solidFill>
                      <a:srgbClr val="1E1E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Cart operations</a:t>
                      </a:r>
                    </a:p>
                  </a:txBody>
                  <a:tcPr>
                    <a:solidFill>
                      <a:srgbClr val="1E1E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Redis, product-service</a:t>
                      </a:r>
                    </a:p>
                  </a:txBody>
                  <a:tcPr>
                    <a:solidFill>
                      <a:srgbClr val="1E1E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order-service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5003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Order 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PostgreSQL, Redis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3383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E2E8F0"/>
                </a:solidFill>
              </a:defRPr>
            </a:pPr>
            <a:r>
              <a:t>FastAPI + shared ServiceMetrics middleware on each service</a:t>
            </a:r>
          </a:p>
          <a:p>
            <a:pPr>
              <a:spcAft>
                <a:spcPts val="1000"/>
              </a:spcAft>
              <a:defRPr sz="1600">
                <a:solidFill>
                  <a:srgbClr val="E2E8F0"/>
                </a:solidFill>
              </a:defRPr>
            </a:pPr>
            <a:r>
              <a:t>Endpoints: /health, /, /metrics (Prometheus exposition)</a:t>
            </a:r>
          </a:p>
          <a:p>
            <a:pPr>
              <a:spcAft>
                <a:spcPts val="1000"/>
              </a:spcAft>
              <a:defRPr sz="1600">
                <a:solidFill>
                  <a:srgbClr val="E2E8F0"/>
                </a:solidFill>
              </a:defRPr>
            </a:pPr>
            <a:r>
              <a:t>Built from services/*/Dockerfile with services/shared/metrics.py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SRE E-Commerce Dashboard | SRE Cloud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API Gateway — Brain of the Stack</a:t>
            </a:r>
          </a:p>
          <a:p>
            <a:pPr>
              <a:spcBef>
                <a:spcPts val="400"/>
              </a:spcBef>
              <a:defRPr sz="1600">
                <a:solidFill>
                  <a:srgbClr val="94A3B8"/>
                </a:solidFill>
              </a:defRPr>
            </a:pPr>
            <a:r>
              <a:t>backend/main.py + service_probe.py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20116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E2E8F0"/>
                </a:solidFill>
              </a:defRPr>
            </a:pPr>
            <a:r>
              <a:t>Async HTTP probes merge live status with chaos simulation overlays</a:t>
            </a:r>
          </a:p>
          <a:p>
            <a:pPr>
              <a:spcAft>
                <a:spcPts val="1000"/>
              </a:spcAft>
              <a:defRPr sz="1600">
                <a:solidFill>
                  <a:srgbClr val="E2E8F0"/>
                </a:solidFill>
              </a:defRPr>
            </a:pPr>
            <a:r>
              <a:t>Chaos: kill service, slow DB, high latency — auto-creates incidents</a:t>
            </a:r>
          </a:p>
          <a:p>
            <a:pPr>
              <a:spcAft>
                <a:spcPts val="1000"/>
              </a:spcAft>
              <a:defRPr sz="1600">
                <a:solidFill>
                  <a:srgbClr val="E2E8F0"/>
                </a:solidFill>
              </a:defRPr>
            </a:pPr>
            <a:r>
              <a:t>Aggregates live metrics when services up; simulates when offline</a:t>
            </a:r>
          </a:p>
          <a:p>
            <a:pPr>
              <a:spcAft>
                <a:spcPts val="1000"/>
              </a:spcAft>
              <a:defRPr sz="1600">
                <a:solidFill>
                  <a:srgbClr val="E2E8F0"/>
                </a:solidFill>
              </a:defRPr>
            </a:pPr>
            <a:r>
              <a:t>Interactive OpenAPI docs at http://localhost:8080/docs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137160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2C55E"/>
                </a:solidFill>
                <a:latin typeface="Consolas"/>
              </a:defRPr>
            </a:pPr>
            <a:r>
              <a:t>GET  /health, /metrics</a:t>
            </a:r>
          </a:p>
          <a:p>
            <a:pPr>
              <a:spcAft>
                <a:spcPts val="400"/>
              </a:spcAft>
              <a:defRPr sz="1300">
                <a:solidFill>
                  <a:srgbClr val="22C55E"/>
                </a:solidFill>
                <a:latin typeface="Consolas"/>
              </a:defRPr>
            </a:pPr>
            <a:r>
              <a:t>GET  /services/status, /services/detail</a:t>
            </a:r>
          </a:p>
          <a:p>
            <a:pPr>
              <a:spcAft>
                <a:spcPts val="400"/>
              </a:spcAft>
              <a:defRPr sz="1300">
                <a:solidFill>
                  <a:srgbClr val="22C55E"/>
                </a:solidFill>
                <a:latin typeface="Consolas"/>
              </a:defRPr>
            </a:pPr>
            <a:r>
              <a:t>GET  /incidents</a:t>
            </a:r>
          </a:p>
          <a:p>
            <a:pPr>
              <a:spcAft>
                <a:spcPts val="400"/>
              </a:spcAft>
              <a:defRPr sz="1300">
                <a:solidFill>
                  <a:srgbClr val="22C55E"/>
                </a:solidFill>
                <a:latin typeface="Consolas"/>
              </a:defRPr>
            </a:pPr>
            <a:r>
              <a:t>POST /incidents/{id}/resolve</a:t>
            </a:r>
          </a:p>
          <a:p>
            <a:pPr>
              <a:spcAft>
                <a:spcPts val="400"/>
              </a:spcAft>
              <a:defRPr sz="1300">
                <a:solidFill>
                  <a:srgbClr val="22C55E"/>
                </a:solidFill>
                <a:latin typeface="Consolas"/>
              </a:defRPr>
            </a:pPr>
            <a:r>
              <a:t>POST /simulate/kill-service</a:t>
            </a:r>
          </a:p>
          <a:p>
            <a:pPr>
              <a:spcAft>
                <a:spcPts val="400"/>
              </a:spcAft>
              <a:defRPr sz="1300">
                <a:solidFill>
                  <a:srgbClr val="22C55E"/>
                </a:solidFill>
                <a:latin typeface="Consolas"/>
              </a:defRPr>
            </a:pPr>
            <a:r>
              <a:t>POST /simulate/slow-db</a:t>
            </a:r>
          </a:p>
          <a:p>
            <a:pPr>
              <a:spcAft>
                <a:spcPts val="400"/>
              </a:spcAft>
              <a:defRPr sz="1300">
                <a:solidFill>
                  <a:srgbClr val="22C55E"/>
                </a:solidFill>
                <a:latin typeface="Consolas"/>
              </a:defRPr>
            </a:pPr>
            <a:r>
              <a:t>POST /simulate/high-latency</a:t>
            </a:r>
          </a:p>
          <a:p>
            <a:pPr>
              <a:spcAft>
                <a:spcPts val="400"/>
              </a:spcAft>
              <a:defRPr sz="1300">
                <a:solidFill>
                  <a:srgbClr val="22C55E"/>
                </a:solidFill>
                <a:latin typeface="Consolas"/>
              </a:defRPr>
            </a:pPr>
            <a:r>
              <a:t>POST /simulate/reset</a:t>
            </a:r>
          </a:p>
          <a:p>
            <a:pPr>
              <a:spcAft>
                <a:spcPts val="400"/>
              </a:spcAft>
              <a:defRPr sz="1300">
                <a:solidFill>
                  <a:srgbClr val="22C55E"/>
                </a:solidFill>
                <a:latin typeface="Consolas"/>
              </a:defRPr>
            </a:pPr>
            <a:r>
              <a:t>POST /load-test</a:t>
            </a:r>
          </a:p>
          <a:p>
            <a:pPr>
              <a:spcAft>
                <a:spcPts val="400"/>
              </a:spcAft>
              <a:defRPr sz="1300">
                <a:solidFill>
                  <a:srgbClr val="22C55E"/>
                </a:solidFill>
                <a:latin typeface="Consolas"/>
              </a:defRPr>
            </a:pPr>
            <a:r>
              <a:t>GET  /load-test/results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SRE E-Commerce Dashboard | SRE Cloud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Dashboard — Overview</a:t>
            </a:r>
          </a:p>
          <a:p>
            <a:pPr>
              <a:spcBef>
                <a:spcPts val="400"/>
              </a:spcBef>
              <a:defRPr sz="1600">
                <a:solidFill>
                  <a:srgbClr val="94A3B8"/>
                </a:solidFill>
              </a:defRPr>
            </a:pPr>
            <a:r>
              <a:t>http://localhost:5173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20116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E2E8F0"/>
                </a:solidFill>
              </a:defRPr>
            </a:pPr>
            <a:r>
              <a:t>KPI bento grid: success rate, P95 latency, error rate, active users</a:t>
            </a:r>
          </a:p>
          <a:p>
            <a:pPr>
              <a:spcAft>
                <a:spcPts val="1000"/>
              </a:spcAft>
              <a:defRPr sz="1500">
                <a:solidFill>
                  <a:srgbClr val="E2E8F0"/>
                </a:solidFill>
              </a:defRPr>
            </a:pPr>
            <a:r>
              <a:t>SVG LineChart — 24-point latency &amp; error rate history</a:t>
            </a:r>
          </a:p>
          <a:p>
            <a:pPr>
              <a:spcAft>
                <a:spcPts val="1000"/>
              </a:spcAft>
              <a:defRPr sz="1500">
                <a:solidFill>
                  <a:srgbClr val="E2E8F0"/>
                </a:solidFill>
              </a:defRPr>
            </a:pPr>
            <a:r>
              <a:t>TrafficMap visualizes inter-service traffic flow</a:t>
            </a:r>
          </a:p>
          <a:p>
            <a:pPr>
              <a:spcAft>
                <a:spcPts val="1000"/>
              </a:spcAft>
              <a:defRPr sz="1500">
                <a:solidFill>
                  <a:srgbClr val="E2E8F0"/>
                </a:solidFill>
              </a:defRPr>
            </a:pPr>
            <a:r>
              <a:t>ResourceBar: CPU, memory, storage utilization</a:t>
            </a:r>
          </a:p>
          <a:p>
            <a:pPr>
              <a:spcAft>
                <a:spcPts val="1000"/>
              </a:spcAft>
              <a:defRPr sz="1500">
                <a:solidFill>
                  <a:srgbClr val="E2E8F0"/>
                </a:solidFill>
              </a:defRPr>
            </a:pPr>
            <a:r>
              <a:t>Health badge: healthy / degraded / critical — polls every 3s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1371600"/>
            <a:ext cx="5943600" cy="4572000"/>
          </a:xfrm>
          <a:prstGeom prst="roundRect">
            <a:avLst/>
          </a:prstGeom>
          <a:solidFill>
            <a:srgbClr val="1E1E2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[ Insert screenshot:</a:t>
            </a:r>
            <a:br/>
            <a:r>
              <a:t>Overview page ]</a:t>
            </a:r>
            <a:br/>
            <a:br/>
            <a:r>
              <a:t>Run: npm run dev</a:t>
            </a:r>
            <a:br/>
            <a:r>
              <a:t>Capture localhost:5173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SRE E-Commerce Dashboard | SRE Cloud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Microservices View — Live Provenance</a:t>
            </a:r>
          </a:p>
          <a:p>
            <a:pPr>
              <a:spcBef>
                <a:spcPts val="400"/>
              </a:spcBef>
              <a:defRPr sz="1600">
                <a:solidFill>
                  <a:srgbClr val="94A3B8"/>
                </a:solidFill>
              </a:defRPr>
            </a:pPr>
            <a:r>
              <a:t>/services route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20116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ServiceMesh component shows inter-service topology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Per-service: HTTP status, latency, probe URL, JSON payload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Badges: LIVE | LIVE + CHAOS | UNREACHABLE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GET /services/detail exposes full provenance for demos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1371600"/>
            <a:ext cx="5943600" cy="4572000"/>
          </a:xfrm>
          <a:prstGeom prst="roundRect">
            <a:avLst/>
          </a:prstGeom>
          <a:solidFill>
            <a:srgbClr val="1E1E26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94A3B8"/>
                </a:solidFill>
              </a:defRPr>
            </a:pPr>
            <a:r>
              <a:t>[ Insert screenshot:</a:t>
            </a:r>
            <a:br/>
            <a:r>
              <a:t>Microservices page</a:t>
            </a:r>
            <a:br/>
            <a:r>
              <a:t>with LIVE badges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SRE E-Commerce Dashboard | SRE Cloud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Incident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20116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Active vs Resolved columns with severity: Critical, Warning, Info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Incidents auto-created on chaos events (kill, slow DB, latency)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One-click Resolve → POST /incidents/{id}/resolve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AnimatePresence UI — mirrors PagerDuty-style on-call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4114800"/>
            <a:ext cx="1828800" cy="1645920"/>
          </a:xfrm>
          <a:prstGeom prst="roundRect">
            <a:avLst/>
          </a:prstGeom>
          <a:solidFill>
            <a:srgbClr val="1E1E26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EF4444"/>
                </a:solidFill>
              </a:defRPr>
            </a:pPr>
            <a:r>
              <a:t>Critical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Sample incident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4114800"/>
            <a:ext cx="1828800" cy="1645920"/>
          </a:xfrm>
          <a:prstGeom prst="roundRect">
            <a:avLst/>
          </a:prstGeom>
          <a:solidFill>
            <a:srgbClr val="1E1E26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BBF24"/>
                </a:solidFill>
              </a:defRPr>
            </a:pPr>
            <a:r>
              <a:t>Warning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Sample incident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24160" y="4114800"/>
            <a:ext cx="1828800" cy="1645920"/>
          </a:xfrm>
          <a:prstGeom prst="roundRect">
            <a:avLst/>
          </a:prstGeom>
          <a:solidFill>
            <a:srgbClr val="1E1E2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3B82F6"/>
                </a:solidFill>
              </a:defRPr>
            </a:pPr>
            <a:r>
              <a:t>Info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Sample incident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SRE E-Commerce Dashboard | SRE Cloud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Chaos Engineering &amp; Load Testing</a:t>
            </a:r>
          </a:p>
          <a:p>
            <a:pPr>
              <a:spcBef>
                <a:spcPts val="400"/>
              </a:spcBef>
              <a:defRPr sz="1600">
                <a:solidFill>
                  <a:srgbClr val="94A3B8"/>
                </a:solidFill>
              </a:defRPr>
            </a:pPr>
            <a:r>
              <a:t>/chaos route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20116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Chaos: Kill Service, Slow DB, High Latency, Reset All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Load test: duration, concurrency, target (gateway or any service)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Terminal-style log output in the UI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Real-time chart: RPS, error %, avg latency ms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Workflow: break → observe incidents → load test → reset/heal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371600"/>
            <a:ext cx="2743200" cy="4389120"/>
          </a:xfrm>
          <a:prstGeom prst="roundRect">
            <a:avLst/>
          </a:prstGeom>
          <a:solidFill>
            <a:srgbClr val="32141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EF4444"/>
                </a:solidFill>
              </a:defRPr>
            </a:pPr>
            <a:r>
              <a:t>CHAOS</a:t>
            </a:r>
            <a:br/>
            <a:r>
              <a:t>Kill Service</a:t>
            </a:r>
            <a:br/>
            <a:r>
              <a:t>Slow DB</a:t>
            </a:r>
            <a:br/>
            <a:r>
              <a:t>High Latency</a:t>
            </a:r>
            <a:br/>
            <a:r>
              <a:t>Reset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1371600"/>
            <a:ext cx="2743200" cy="4389120"/>
          </a:xfrm>
          <a:prstGeom prst="roundRect">
            <a:avLst/>
          </a:prstGeom>
          <a:solidFill>
            <a:srgbClr val="1428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3B82F6"/>
                </a:solidFill>
              </a:defRPr>
            </a:pPr>
            <a:r>
              <a:t>LOAD TEST</a:t>
            </a:r>
            <a:br/>
            <a:r>
              <a:t>Terminal logs</a:t>
            </a:r>
            <a:br/>
            <a:r>
              <a:t>RPS chart</a:t>
            </a:r>
            <a:br/>
            <a:r>
              <a:t>POST /load-test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SRE E-Commerce Dashboard | SRE Cloud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Observability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20116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2011680"/>
          </a:xfrm>
          <a:prstGeom prst="roundRect">
            <a:avLst/>
          </a:prstGeom>
          <a:solidFill>
            <a:srgbClr val="1E1E2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Prometheus :9090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Metrics TSDB, scrapes all services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486400" cy="2011680"/>
          </a:xfrm>
          <a:prstGeom prst="roundRect">
            <a:avLst/>
          </a:prstGeom>
          <a:solidFill>
            <a:srgbClr val="1E1E2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Grafana :3000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Dashboards (admin/admin)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5486400" cy="2011680"/>
          </a:xfrm>
          <a:prstGeom prst="roundRect">
            <a:avLst/>
          </a:prstGeom>
          <a:solidFill>
            <a:srgbClr val="1E1E2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Alertmanager :9093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Alert routing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657600"/>
            <a:ext cx="5486400" cy="2011680"/>
          </a:xfrm>
          <a:prstGeom prst="roundRect">
            <a:avLst/>
          </a:prstGeom>
          <a:solidFill>
            <a:srgbClr val="1E1E2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Jaeger :16686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Distributed tracing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669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prometheus.yml jobs: api-gateway, product, cart, order (15s scrape)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SRE E-Commerce Dashboard | SRE Cloud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Tech Stack &amp; Project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20116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E2E8F0"/>
                </a:solidFill>
              </a:defRPr>
            </a:pPr>
            <a:r>
              <a:t>Frontend: React 18, TypeScript, Vite, Tailwind, Framer Motion</a:t>
            </a:r>
          </a:p>
          <a:p>
            <a:pPr>
              <a:spcAft>
                <a:spcPts val="1000"/>
              </a:spcAft>
              <a:defRPr sz="1500">
                <a:solidFill>
                  <a:srgbClr val="E2E8F0"/>
                </a:solidFill>
              </a:defRPr>
            </a:pPr>
            <a:r>
              <a:t>Backend: FastAPI, Uvicorn, httpx, Pydantic</a:t>
            </a:r>
          </a:p>
          <a:p>
            <a:pPr>
              <a:spcAft>
                <a:spcPts val="1000"/>
              </a:spcAft>
              <a:defRPr sz="1500">
                <a:solidFill>
                  <a:srgbClr val="E2E8F0"/>
                </a:solidFill>
              </a:defRPr>
            </a:pPr>
            <a:r>
              <a:t>Infra: Docker Compose, PostgreSQL 16, Redis 7</a:t>
            </a:r>
          </a:p>
          <a:p>
            <a:pPr>
              <a:spcAft>
                <a:spcPts val="1000"/>
              </a:spcAft>
              <a:defRPr sz="1500">
                <a:solidFill>
                  <a:srgbClr val="E2E8F0"/>
                </a:solidFill>
              </a:defRPr>
            </a:pPr>
            <a:r>
              <a:t>Observability: Prometheus, Grafana, Alertmanager, Jaeger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1325880"/>
            <a:ext cx="585216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C55E"/>
                </a:solidFill>
                <a:latin typeface="Consolas"/>
              </a:defRPr>
            </a:pPr>
            <a:r>
              <a:t>SRE Cloud/</a:t>
            </a:r>
          </a:p>
          <a:p>
            <a:pPr>
              <a:defRPr sz="1200">
                <a:solidFill>
                  <a:srgbClr val="22C55E"/>
                </a:solidFill>
                <a:latin typeface="Consolas"/>
              </a:defRPr>
            </a:pPr>
            <a:r>
              <a:t>├── docker-compose.yml</a:t>
            </a:r>
          </a:p>
          <a:p>
            <a:pPr>
              <a:defRPr sz="1200">
                <a:solidFill>
                  <a:srgbClr val="22C55E"/>
                </a:solidFill>
                <a:latin typeface="Consolas"/>
              </a:defRPr>
            </a:pPr>
            <a:r>
              <a:t>├── backend/           API gateway</a:t>
            </a:r>
          </a:p>
          <a:p>
            <a:pPr>
              <a:defRPr sz="1200">
                <a:solidFill>
                  <a:srgbClr val="22C55E"/>
                </a:solidFill>
                <a:latin typeface="Consolas"/>
              </a:defRPr>
            </a:pPr>
            <a:r>
              <a:t>├── services/          product, cart, order</a:t>
            </a:r>
          </a:p>
          <a:p>
            <a:pPr>
              <a:defRPr sz="1200">
                <a:solidFill>
                  <a:srgbClr val="22C55E"/>
                </a:solidFill>
                <a:latin typeface="Consolas"/>
              </a:defRPr>
            </a:pPr>
            <a:r>
              <a:t>│   └── shared/        metrics.py</a:t>
            </a:r>
          </a:p>
          <a:p>
            <a:pPr>
              <a:defRPr sz="1200">
                <a:solidFill>
                  <a:srgbClr val="22C55E"/>
                </a:solidFill>
                <a:latin typeface="Consolas"/>
              </a:defRPr>
            </a:pPr>
            <a:r>
              <a:t>├── frontend/src/</a:t>
            </a:r>
          </a:p>
          <a:p>
            <a:pPr>
              <a:defRPr sz="1200">
                <a:solidFill>
                  <a:srgbClr val="22C55E"/>
                </a:solidFill>
                <a:latin typeface="Consolas"/>
              </a:defRPr>
            </a:pPr>
            <a:r>
              <a:t>│   ├── views/         Overview, Services, Incidents, Chaos</a:t>
            </a:r>
          </a:p>
          <a:p>
            <a:pPr>
              <a:defRPr sz="1200">
                <a:solidFill>
                  <a:srgbClr val="22C55E"/>
                </a:solidFill>
                <a:latin typeface="Consolas"/>
              </a:defRPr>
            </a:pPr>
            <a:r>
              <a:t>│   └── components/    Charts, TrafficMap, ServiceMesh</a:t>
            </a:r>
          </a:p>
          <a:p>
            <a:pPr>
              <a:defRPr sz="1200">
                <a:solidFill>
                  <a:srgbClr val="22C55E"/>
                </a:solidFill>
                <a:latin typeface="Consolas"/>
              </a:defRPr>
            </a:pPr>
            <a:r>
              <a:t>├── observability/</a:t>
            </a:r>
          </a:p>
          <a:p>
            <a:pPr>
              <a:defRPr sz="1200">
                <a:solidFill>
                  <a:srgbClr val="22C55E"/>
                </a:solidFill>
                <a:latin typeface="Consolas"/>
              </a:defRPr>
            </a:pPr>
            <a:r>
              <a:t>│   ├── prometheus/</a:t>
            </a:r>
          </a:p>
          <a:p>
            <a:pPr>
              <a:defRPr sz="1200">
                <a:solidFill>
                  <a:srgbClr val="22C55E"/>
                </a:solidFill>
                <a:latin typeface="Consolas"/>
              </a:defRPr>
            </a:pPr>
            <a:r>
              <a:t>│   ├── grafana/</a:t>
            </a:r>
          </a:p>
          <a:p>
            <a:pPr>
              <a:defRPr sz="1200">
                <a:solidFill>
                  <a:srgbClr val="22C55E"/>
                </a:solidFill>
                <a:latin typeface="Consolas"/>
              </a:defRPr>
            </a:pPr>
            <a:r>
              <a:t>│   └── alertmanager/</a:t>
            </a:r>
          </a:p>
          <a:p>
            <a:pPr>
              <a:defRPr sz="1200">
                <a:solidFill>
                  <a:srgbClr val="22C55E"/>
                </a:solidFill>
                <a:latin typeface="Consolas"/>
              </a:defRPr>
            </a:pPr>
            <a:r>
              <a:t>└── scripts/           start-microservices.ps1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SRE E-Commerce Dashboard | SRE Cloud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Demo Flow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20116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E2E8F0"/>
                </a:solidFill>
              </a:defRPr>
            </a:pPr>
            <a:r>
              <a:t>1. docker compose up --build -d</a:t>
            </a:r>
          </a:p>
          <a:p>
            <a:pPr>
              <a:spcAft>
                <a:spcPts val="1000"/>
              </a:spcAft>
              <a:defRPr sz="1700">
                <a:solidFill>
                  <a:srgbClr val="E2E8F0"/>
                </a:solidFill>
              </a:defRPr>
            </a:pPr>
            <a:r>
              <a:t>2. Open http://localhost:5173 (npm run dev for frontend)</a:t>
            </a:r>
          </a:p>
          <a:p>
            <a:pPr>
              <a:spcAft>
                <a:spcPts val="1000"/>
              </a:spcAft>
              <a:defRPr sz="1700">
                <a:solidFill>
                  <a:srgbClr val="E2E8F0"/>
                </a:solidFill>
              </a:defRPr>
            </a:pPr>
            <a:r>
              <a:t>3. Demo: Overview healthy → Microservices LIVE → Chaos kill → Incidents → Load test → Reset</a:t>
            </a:r>
          </a:p>
          <a:p>
            <a:pPr>
              <a:spcAft>
                <a:spcPts val="1000"/>
              </a:spcAft>
              <a:defRPr sz="1700">
                <a:solidFill>
                  <a:srgbClr val="E2E8F0"/>
                </a:solidFill>
              </a:defRPr>
            </a:pPr>
            <a:r>
              <a:t>Future: Kubernetes/Helm, OpenTelemetry → Jaeger, CI/CD synthetic monitoring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389120"/>
            <a:ext cx="11247120" cy="1645920"/>
          </a:xfrm>
          <a:prstGeom prst="roundRect">
            <a:avLst/>
          </a:prstGeom>
          <a:solidFill>
            <a:srgbClr val="1E1E26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E2E8F0"/>
                </a:solidFill>
              </a:defRPr>
            </a:pPr>
            <a:r>
              <a:t>Key outcomes: End-to-end microservices + SRE workflows | Live probes with simulation fallback | Interview-ready architecture narrative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B5CF6"/>
                </a:solidFill>
              </a:defRPr>
            </a:pPr>
            <a:r>
              <a:t>Thank you — 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github.com — SRE Cloud | Add your name &amp; contact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